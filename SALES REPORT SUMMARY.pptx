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92" autoAdjust="0"/>
    <p:restoredTop sz="94660"/>
  </p:normalViewPr>
  <p:slideViewPr>
    <p:cSldViewPr snapToGrid="0">
      <p:cViewPr varScale="1">
        <p:scale>
          <a:sx n="57" d="100"/>
          <a:sy n="57" d="100"/>
        </p:scale>
        <p:origin x="662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91CD3-09DB-4D54-919C-21DF619B7BC3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F3C7F-76FD-42E4-AD8C-B5F8D9D993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3562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91CD3-09DB-4D54-919C-21DF619B7BC3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F3C7F-76FD-42E4-AD8C-B5F8D9D993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57179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91CD3-09DB-4D54-919C-21DF619B7BC3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F3C7F-76FD-42E4-AD8C-B5F8D9D993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53255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91CD3-09DB-4D54-919C-21DF619B7BC3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F3C7F-76FD-42E4-AD8C-B5F8D9D993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35071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91CD3-09DB-4D54-919C-21DF619B7BC3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F3C7F-76FD-42E4-AD8C-B5F8D9D993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53612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91CD3-09DB-4D54-919C-21DF619B7BC3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F3C7F-76FD-42E4-AD8C-B5F8D9D993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5331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91CD3-09DB-4D54-919C-21DF619B7BC3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F3C7F-76FD-42E4-AD8C-B5F8D9D993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53108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91CD3-09DB-4D54-919C-21DF619B7BC3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F3C7F-76FD-42E4-AD8C-B5F8D9D993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0665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91CD3-09DB-4D54-919C-21DF619B7BC3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F3C7F-76FD-42E4-AD8C-B5F8D9D993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26335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91CD3-09DB-4D54-919C-21DF619B7BC3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F3C7F-76FD-42E4-AD8C-B5F8D9D993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40471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91CD3-09DB-4D54-919C-21DF619B7BC3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F3C7F-76FD-42E4-AD8C-B5F8D9D9934B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600715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91CD3-09DB-4D54-919C-21DF619B7BC3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F3C7F-76FD-42E4-AD8C-B5F8D9D993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07258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91CD3-09DB-4D54-919C-21DF619B7BC3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F3C7F-76FD-42E4-AD8C-B5F8D9D9934B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467084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91CD3-09DB-4D54-919C-21DF619B7BC3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F3C7F-76FD-42E4-AD8C-B5F8D9D993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92963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91CD3-09DB-4D54-919C-21DF619B7BC3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F3C7F-76FD-42E4-AD8C-B5F8D9D993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19467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91CD3-09DB-4D54-919C-21DF619B7BC3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F3C7F-76FD-42E4-AD8C-B5F8D9D993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00789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991CD3-09DB-4D54-919C-21DF619B7BC3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13FF3C7F-76FD-42E4-AD8C-B5F8D9D993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3750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81878" y="1371427"/>
            <a:ext cx="7766936" cy="1646302"/>
          </a:xfrm>
        </p:spPr>
        <p:txBody>
          <a:bodyPr/>
          <a:lstStyle/>
          <a:p>
            <a:pPr algn="ctr"/>
            <a:r>
              <a:rPr lang="en-GB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SALES REPORT SUMMARY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22860" y="6790584"/>
            <a:ext cx="45719" cy="45719"/>
          </a:xfrm>
        </p:spPr>
        <p:txBody>
          <a:bodyPr>
            <a:normAutofit fontScale="25000" lnSpcReduction="20000"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27982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5944" y="76201"/>
            <a:ext cx="9903580" cy="990600"/>
          </a:xfrm>
        </p:spPr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Products &amp; Revenue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5944" y="1338943"/>
            <a:ext cx="7266214" cy="504552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Top 5 Products by Units Sold:</a:t>
            </a:r>
          </a:p>
          <a:p>
            <a:r>
              <a:rPr lang="en-GB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T-Shirt (374)</a:t>
            </a:r>
          </a:p>
          <a:p>
            <a:r>
              <a:rPr lang="en-GB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Laptop (348)</a:t>
            </a:r>
          </a:p>
          <a:p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Notebook </a:t>
            </a: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(330)</a:t>
            </a:r>
          </a:p>
          <a:p>
            <a:r>
              <a:rPr lang="en-GB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Table </a:t>
            </a: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(284)</a:t>
            </a:r>
          </a:p>
          <a:p>
            <a:r>
              <a:rPr lang="en-GB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Chair </a:t>
            </a: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(224)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4996543" y="1338943"/>
            <a:ext cx="4294414" cy="42780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800" dirty="0"/>
              <a:t>Top Revenue Categories:</a:t>
            </a:r>
          </a:p>
          <a:p>
            <a:r>
              <a:rPr lang="en-GB" sz="2800" dirty="0" smtClean="0"/>
              <a:t> </a:t>
            </a:r>
            <a:r>
              <a:rPr lang="en-GB" sz="2800" dirty="0"/>
              <a:t>Electronics – ₹5,97,947</a:t>
            </a:r>
          </a:p>
          <a:p>
            <a:r>
              <a:rPr lang="en-GB" sz="2800" dirty="0"/>
              <a:t> </a:t>
            </a:r>
            <a:r>
              <a:rPr lang="en-GB" sz="2800" dirty="0" smtClean="0"/>
              <a:t>Furniture </a:t>
            </a:r>
            <a:r>
              <a:rPr lang="en-GB" sz="2800" dirty="0"/>
              <a:t>– ₹5,94,971</a:t>
            </a:r>
          </a:p>
          <a:p>
            <a:r>
              <a:rPr lang="en-GB" sz="2800" dirty="0" smtClean="0"/>
              <a:t> </a:t>
            </a:r>
            <a:r>
              <a:rPr lang="en-GB" sz="2800" dirty="0"/>
              <a:t>Stationary – ₹5,64,385</a:t>
            </a:r>
          </a:p>
          <a:p>
            <a:r>
              <a:rPr lang="en-GB" sz="2800" dirty="0" smtClean="0"/>
              <a:t> </a:t>
            </a:r>
            <a:r>
              <a:rPr lang="en-GB" sz="2800" dirty="0"/>
              <a:t>Clothing – ₹4,13,417</a:t>
            </a:r>
          </a:p>
        </p:txBody>
      </p:sp>
    </p:spTree>
    <p:extLst>
      <p:ext uri="{BB962C8B-B14F-4D97-AF65-F5344CB8AC3E}">
        <p14:creationId xmlns:p14="http://schemas.microsoft.com/office/powerpoint/2010/main" val="778358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509" y="27214"/>
            <a:ext cx="8596668" cy="615043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Region &amp; Sales Rep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1886" y="615043"/>
            <a:ext cx="4718957" cy="38916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Region Revenue Contribution:</a:t>
            </a:r>
          </a:p>
          <a:p>
            <a:r>
              <a:rPr lang="en-GB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South   – ₹6,03,454(27.8%)</a:t>
            </a:r>
            <a:endParaRPr lang="en-GB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North   </a:t>
            </a: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GB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₹6,18,073(28.47%)</a:t>
            </a:r>
            <a:endParaRPr lang="en-GB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East     </a:t>
            </a: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GB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₹5,05,002(23.26%)</a:t>
            </a:r>
            <a:endParaRPr lang="en-GB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West    </a:t>
            </a: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GB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₹4,44,191(20.46%)</a:t>
            </a:r>
          </a:p>
          <a:p>
            <a:r>
              <a:rPr lang="en-GB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TOTAL-₹21,70,720</a:t>
            </a:r>
            <a:endParaRPr lang="en-GB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5110843" y="615043"/>
            <a:ext cx="5290457" cy="37773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en-GB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Top 3 Sales Rep:</a:t>
            </a:r>
          </a:p>
          <a:p>
            <a:r>
              <a:rPr lang="en-GB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Ethan(South)   - ₹1,73,528</a:t>
            </a:r>
          </a:p>
          <a:p>
            <a:r>
              <a:rPr lang="en-GB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Charlie(North) - ₹1,70,155</a:t>
            </a:r>
          </a:p>
          <a:p>
            <a:r>
              <a:rPr lang="en-GB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Alice(East)       - ₹1,64,356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391885" y="3984172"/>
            <a:ext cx="9017291" cy="25635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</a:t>
            </a:r>
            <a:r>
              <a:rPr lang="en-GB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Ethan and Charlie are the strongest performers. North region has three top sales reps but still shows uneven growth, indicating potential distribution </a:t>
            </a:r>
            <a:r>
              <a:rPr lang="en-GB" sz="2800" dirty="0"/>
              <a:t>issues.</a:t>
            </a:r>
            <a:endParaRPr lang="en-GB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2318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0"/>
            <a:ext cx="8596668" cy="647700"/>
          </a:xfrm>
        </p:spPr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Monthly Revenue Trend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457200" y="1023879"/>
            <a:ext cx="8816802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Peak months: </a:t>
            </a:r>
            <a:r>
              <a:rPr kumimoji="0" lang="en-US" sz="3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February, April, August</a:t>
            </a:r>
            <a:endParaRPr kumimoji="0" lang="en-US" sz="3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Low months: </a:t>
            </a:r>
            <a:r>
              <a:rPr kumimoji="0" lang="en-US" sz="3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June, September</a:t>
            </a:r>
            <a:endParaRPr kumimoji="0" lang="en-US" sz="3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Quarterly trend:</a:t>
            </a:r>
          </a:p>
          <a:p>
            <a:pPr marL="857250" lvl="1" indent="-45720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Font typeface="Arial" panose="020B0604020202020204" pitchFamily="34" charset="0"/>
              <a:buChar char="•"/>
            </a:pPr>
            <a:r>
              <a:rPr kumimoji="0" lang="en-US" sz="3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Q1:</a:t>
            </a:r>
            <a:r>
              <a:rPr kumimoji="0" lang="en-US" sz="3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Strong start, high growth in                     </a:t>
            </a:r>
            <a:r>
              <a:rPr lang="en-US" sz="3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kumimoji="0" lang="en-US" sz="3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February–March</a:t>
            </a:r>
          </a:p>
          <a:p>
            <a:pPr marL="857250" lvl="1" indent="-45720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Font typeface="Arial" panose="020B0604020202020204" pitchFamily="34" charset="0"/>
              <a:buChar char="•"/>
            </a:pPr>
            <a:r>
              <a:rPr kumimoji="0" lang="en-US" sz="3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Q2:</a:t>
            </a:r>
            <a:r>
              <a:rPr kumimoji="0" lang="en-US" sz="3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Slight decline</a:t>
            </a:r>
          </a:p>
          <a:p>
            <a:pPr marL="857250" lvl="1" indent="-45720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Font typeface="Arial" panose="020B0604020202020204" pitchFamily="34" charset="0"/>
              <a:buChar char="•"/>
            </a:pPr>
            <a:r>
              <a:rPr kumimoji="0" lang="en-US" sz="3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Q3:</a:t>
            </a:r>
            <a:r>
              <a:rPr kumimoji="0" lang="en-US" sz="3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Moderate improvement</a:t>
            </a:r>
          </a:p>
          <a:p>
            <a:pPr marL="857250" lvl="1" indent="-45720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Font typeface="Arial" panose="020B0604020202020204" pitchFamily="34" charset="0"/>
              <a:buChar char="•"/>
            </a:pPr>
            <a:r>
              <a:rPr kumimoji="0" lang="en-US" sz="3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Q4:</a:t>
            </a:r>
            <a:r>
              <a:rPr kumimoji="0" lang="en-US" sz="3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Stable performance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08935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620" y="0"/>
            <a:ext cx="8596668" cy="680357"/>
          </a:xfrm>
        </p:spPr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3034" y="680357"/>
            <a:ext cx="8874254" cy="5981700"/>
          </a:xfrm>
        </p:spPr>
        <p:txBody>
          <a:bodyPr>
            <a:noAutofit/>
          </a:bodyPr>
          <a:lstStyle/>
          <a:p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Insights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High-selling items are not always the highest revenue generators.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Electronics yield more revenue despite lower units sold.</a:t>
            </a:r>
          </a:p>
          <a:p>
            <a:r>
              <a:rPr lang="en-GB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Region </a:t>
            </a: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South region leads in revenue.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West region needs promotional campaigns and expanded distribution.</a:t>
            </a:r>
          </a:p>
          <a:p>
            <a:r>
              <a:rPr lang="en-GB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Sales </a:t>
            </a: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Representative Performance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performers in North and South drive majority revenue.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Underperforming reps may need training or better lead allocation.</a:t>
            </a:r>
          </a:p>
          <a:p>
            <a:r>
              <a:rPr lang="en-GB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Seasonality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peaks in Q1 and Q3 → good months to launch new products.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35816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36071"/>
            <a:ext cx="8596668" cy="598715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 to Improve Sales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4543" y="571500"/>
            <a:ext cx="10270671" cy="6286499"/>
          </a:xfrm>
        </p:spPr>
        <p:txBody>
          <a:bodyPr>
            <a:normAutofit fontScale="25000" lnSpcReduction="20000"/>
          </a:bodyPr>
          <a:lstStyle/>
          <a:p>
            <a:r>
              <a:rPr lang="en-GB" sz="1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Boost Sales in Low-Performing Regions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Introduce regional discounts in West.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 product availability and marketing in East.</a:t>
            </a:r>
          </a:p>
          <a:p>
            <a:r>
              <a:rPr lang="en-GB" sz="1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Promote </a:t>
            </a:r>
            <a:r>
              <a:rPr lang="en-GB" sz="1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High-Margin Products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Bundle electronics and furniture with accessories.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Offer EMI or exchange options for high-price items.</a:t>
            </a:r>
          </a:p>
          <a:p>
            <a:r>
              <a:rPr lang="en-GB" sz="1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Improve </a:t>
            </a:r>
            <a:r>
              <a:rPr lang="en-GB" sz="1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Team Efficiency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training for low-performing reps.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incentive-based monthly targets.</a:t>
            </a:r>
          </a:p>
          <a:p>
            <a:r>
              <a:rPr lang="en-GB" sz="1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Manage </a:t>
            </a:r>
            <a:r>
              <a:rPr lang="en-GB" sz="1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Inventory Based on Seasonality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 stock before Q1 &amp; Q3 as these show higher </a:t>
            </a:r>
            <a:r>
              <a:rPr lang="en-GB" sz="1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demand</a:t>
            </a:r>
            <a:endParaRPr lang="en-GB" sz="1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08541735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60</TotalTime>
  <Words>308</Words>
  <Application>Microsoft Office PowerPoint</Application>
  <PresentationFormat>Widescreen</PresentationFormat>
  <Paragraphs>57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Times New Roman</vt:lpstr>
      <vt:lpstr>Trebuchet MS</vt:lpstr>
      <vt:lpstr>Wingdings</vt:lpstr>
      <vt:lpstr>Wingdings 3</vt:lpstr>
      <vt:lpstr>Facet</vt:lpstr>
      <vt:lpstr>SALES REPORT SUMMARY</vt:lpstr>
      <vt:lpstr>Top Products &amp; Revenue</vt:lpstr>
      <vt:lpstr>Region &amp; Sales Rep Analysis</vt:lpstr>
      <vt:lpstr>Monthly Revenue Trend</vt:lpstr>
      <vt:lpstr>Key Insights</vt:lpstr>
      <vt:lpstr>Recommendations to Improve Sales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SALES REPORT SUMMARY</dc:title>
  <dc:creator>Microsoft account</dc:creator>
  <cp:lastModifiedBy>Microsoft account</cp:lastModifiedBy>
  <cp:revision>7</cp:revision>
  <dcterms:created xsi:type="dcterms:W3CDTF">2025-12-03T17:33:17Z</dcterms:created>
  <dcterms:modified xsi:type="dcterms:W3CDTF">2025-12-04T21:22:11Z</dcterms:modified>
</cp:coreProperties>
</file>